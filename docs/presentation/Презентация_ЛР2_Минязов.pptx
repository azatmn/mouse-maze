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2C2C2A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2C2C2A"/>
                </a:solidFill>
                <a:latin typeface="Calibri"/>
              </a:rPr>
              <a:t>Мышь нашла путь при разных γ (из 30)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Лабиринтов из 30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C2C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0.9</c:v>
                  </c:pt>
                  <c:pt idx="1">
                    <c:v>0.95</c:v>
                  </c:pt>
                  <c:pt idx="2">
                    <c:v>0.98</c:v>
                  </c:pt>
                  <c:pt idx="3">
                    <c:v>0.99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13.9</c:v>
                </c:pt>
                <c:pt idx="1">
                  <c:v>15</c:v>
                </c:pt>
                <c:pt idx="2">
                  <c:v>21.8</c:v>
                </c:pt>
                <c:pt idx="3">
                  <c:v>24.7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2C2C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300" b="0" i="0" u="none" strike="noStrike">
                    <a:solidFill>
                      <a:srgbClr val="6B6A65"/>
                    </a:solidFill>
                    <a:latin typeface="Arial"/>
                  </a:defRPr>
                </a:pPr>
                <a:r>
                  <a:rPr sz="1300" b="0" i="0" u="none" strike="noStrike">
                    <a:solidFill>
                      <a:srgbClr val="6B6A65"/>
                    </a:solidFill>
                    <a:latin typeface="Arial"/>
                  </a:rPr>
                  <a:t>γ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6A6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E4E2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A6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Тема: обучение с подкреплением на примере мыши в лабиринте. Мышь не видит карту, учится только по наградам от среды. Программа на Java, окно на JavaFX.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Награды из условия: сыр +Z, вода +x, ток −y. Добавлены плата за шаг (чтобы мышь торопилась) и штраф за удар о стену. Вода выпивается, иначе мышь бегала бы туда-обратно у воды бесконечно.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Q-таблица — числа на стрелках: для каждой клетки и направления — сколько очков в сумме мышь получит, если пойдёт туда. После каждого шага правится одно число. Ценность сыра с каждой попыткой уходит на шаг дальше от сыра, пока не дойдёт до старта. Случайные шаги нужны, чтобы находить обходные пути.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снимке включены стрелки. Мышь не видела карту, но выучила обход тока: прямой путь дороже на 50 очков, обход — всего несколько лишних шагов по −1.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Генератор: сначала все стены, обход в глубину пробивает проходы — лабиринт с единственным путём. Потом сносим часть стен, чтобы появились обходы: без выбора нечему учиться. Редактор меняет схему; после правки обучение начинается заново.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Награды заданы условием, подбирались только параметры обучения. Перебор: 720 + 216 наборов. Лучший набор проверен на 60 лабиринтах, не участвовавших в подборе: путь найден во всех 60, со старыми пробными значениями — в 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ничего не знает об окне. Логика кнопок вынесена в контроллер, поэтому её можно проверить без открытия окна. Окно только передаёт нажатия и рисует.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Диаграммы в отчёте, раздел 3. Прецеденты — что делает пользователь и мышь. Деятельность — одна попытка мыши и клик в редакторе. Классы — модель и окно. Взаимодействие — кадр окна при обучении. Состояния — мышь в попытке и режимы обучения. Компоненты — пакеты модуля.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Живая демонстрация: Старт на малой скорости — видно случайные шаги. Затем «Обучить 500» — появляется зелёный путь и надпись «выучила маршрут». Можно включить стрелки, поставить молнию в редакторе на путь и обучить заново — мышь найдёт новый обход.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Настройки, при которых мышь почти наверняка не выучит маршрут (бесплатные шаги при γ около 1), не запрещены, но окно предупреждает и применяет их только по второму нажатию. Причина — мышь не знает, какая дальняя вода уже выпита.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Главное: мышь учится на обратной связи, как требует условие; программа устойчива к неверному вводу; параметры подобраны замером, а не наугад.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2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Лабораторная работа № 2 · ООП на языке Java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Мышь в лабиринте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с подкреплением: мышь без карты учится находить сыр, пить воду и обходить ток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9377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А. А. Минязов, гр. 5130902/40202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Проверил: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ст. преп. Д. С. Хасанов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СПбПУ, ИКНК · 2026</a:t>
            </a:r>
            <a:endParaRPr lang="en-US" sz="1600" dirty="0"/>
          </a:p>
        </p:txBody>
      </p:sp>
      <p:pic>
        <p:nvPicPr>
          <p:cNvPr id="6" name="Image 0" descr="/Users/azatminyazov/Workspace/university java/2 work/docs/screenshots/gui_2_tra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36585"/>
            <a:ext cx="5120640" cy="33848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1.11 «Мышь в лабиринте»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каждом шаге мышь выбирает направление, а среда сообщает выигрыш или проигрыш.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этой обратной связи мышь не знает, какое действие лучше.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Мышь знает сумму выигрыша за попытку.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Лабиринт любого размера; размер и схему задаёт пользователь.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217920" y="1737360"/>
            <a:ext cx="5394960" cy="914400"/>
          </a:xfrm>
          <a:prstGeom prst="roundRect">
            <a:avLst>
              <a:gd name="adj" fmla="val 12000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874520"/>
            <a:ext cx="640080" cy="640080"/>
          </a:xfrm>
          <a:prstGeom prst="ellipse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18470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Сыр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945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самая большая награда (+Z), попытка заканчивается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834640"/>
            <a:ext cx="5394960" cy="914400"/>
          </a:xfrm>
          <a:prstGeom prst="roundRect">
            <a:avLst>
              <a:gd name="adj" fmla="val 12000"/>
            </a:avLst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2971800"/>
            <a:ext cx="640080" cy="640080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9443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Вода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2918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награда поменьше (+x), выпивается до конца попытки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3931920"/>
            <a:ext cx="5394960" cy="914400"/>
          </a:xfrm>
          <a:prstGeom prst="roundRect">
            <a:avLst>
              <a:gd name="adj" fmla="val 12000"/>
            </a:avLst>
          </a:prstGeom>
          <a:solidFill>
            <a:srgbClr val="FCEBEB"/>
          </a:solidFill>
          <a:ln w="12700">
            <a:solidFill>
              <a:srgbClr val="FCEB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4069080"/>
            <a:ext cx="640080" cy="640080"/>
          </a:xfrm>
          <a:prstGeom prst="ellipse">
            <a:avLst/>
          </a:prstGeom>
          <a:solidFill>
            <a:srgbClr val="A32D2D"/>
          </a:solidFill>
          <a:ln w="12700">
            <a:solidFill>
              <a:srgbClr val="A32D2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−50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4041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223760" y="4389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электротравма (−y), бьёт каждый раз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17920" y="5029200"/>
            <a:ext cx="5394960" cy="914400"/>
          </a:xfrm>
          <a:prstGeom prst="roundRect">
            <a:avLst>
              <a:gd name="adj" fmla="val 12000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0" y="5166360"/>
            <a:ext cx="640080" cy="640080"/>
          </a:xfrm>
          <a:prstGeom prst="ellipse">
            <a:avLst/>
          </a:prstGeom>
          <a:solidFill>
            <a:srgbClr val="6B6A65"/>
          </a:solidFill>
          <a:ln w="12700">
            <a:solidFill>
              <a:srgbClr val="6B6A6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51389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5486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плата за каждый шаг: короткий путь выгоднее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61722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Удар о стену: −5, мышь остаётся на месте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учится мышь: Q-learning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шаг — четыре действия; попыток — сотни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0320" cy="2103120"/>
          </a:xfrm>
          <a:prstGeom prst="roundRect">
            <a:avLst>
              <a:gd name="adj" fmla="val 5217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965960"/>
            <a:ext cx="548640" cy="54864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011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974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обычно — стрелка с наибольшим числом, иногда (ε) — наугад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83280" y="1783080"/>
            <a:ext cx="2560320" cy="2103120"/>
          </a:xfrm>
          <a:prstGeom prst="roundRect">
            <a:avLst>
              <a:gd name="adj" fmla="val 5217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66160" y="1965960"/>
            <a:ext cx="548640" cy="54864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16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2011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6974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мышь идёт в соседнюю клетку или бьётся о стену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17920" y="1783080"/>
            <a:ext cx="2560320" cy="2103120"/>
          </a:xfrm>
          <a:prstGeom prst="roundRect">
            <a:avLst>
              <a:gd name="adj" fmla="val 5217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965960"/>
            <a:ext cx="548640" cy="54864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2011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Награда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26974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среда сообщает число: сыр, вода, ток, плата за шаг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778240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052560" y="1783080"/>
            <a:ext cx="2560320" cy="2103120"/>
          </a:xfrm>
          <a:prstGeom prst="roundRect">
            <a:avLst>
              <a:gd name="adj" fmla="val 5217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35440" y="1965960"/>
            <a:ext cx="548640" cy="54864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3544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921240" y="2011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9235440" y="26974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мышь исправляет одно число — у стрелки, по которой прошла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0850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Q[s][a] ← Q[s][a] + α · (r + γ · max Q[s′] − Q[s][a])</a:t>
            </a:r>
            <a:endParaRPr lang="en-US" sz="26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8920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«Шаг хорош, если за него сразу дали награду или он привёл туда, откуда уже известен хороший путь»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0.2</a:t>
            </a:r>
            <a:pPr indent="0" marL="0"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сила одного исправления   </a:t>
            </a:r>
            <a:pPr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 = 0.995</a:t>
            </a:r>
            <a:pPr indent="0" marL="0"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доля ценности, сохраняемая за шаг   </a:t>
            </a:r>
            <a:pPr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ε: 30% → 1%</a:t>
            </a:r>
            <a:pPr indent="0" marL="0"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доля случайных шагов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мышь выучила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Стрелка в каждой клетке — направление с наибольшим числом Q</a:t>
            </a:r>
            <a:endParaRPr lang="en-US" sz="1600" dirty="0"/>
          </a:p>
        </p:txBody>
      </p:sp>
      <p:pic>
        <p:nvPicPr>
          <p:cNvPr id="4" name="Image 0" descr="/Users/azatminyazov/Workspace/university java/2 work/docs/screenshots/gui_3_arro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26511"/>
            <a:ext cx="6949440" cy="459369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863840" y="17373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D9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попыток до выученного маршрута в лабиринте 12×9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32918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−2500 → +81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за попытку: в начале и после обучения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863840" y="493776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46720" y="502920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Зелёная линия — путь без случайных шагов. Кратчайший путь идёт через ток внизу; мышь выучила обход и заходит за водой.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Лабиринт: генерация и редактор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 до 100×100, схему задаёт пользователь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733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Идеальный лабиринт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обход в глубину: к каждой клетке ровно один путь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8163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Обходные пути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18211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убирается заданный процент стен — мыши есть из чего выбирать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502920" cy="50292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9593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Вода и ток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2511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случайные клетки, кроме старта и сыра; один seed — один лабиринт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502920" cy="50292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120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1023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Редактор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46811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границе — стена; клик в клетку — вода, ток, старт, сыр</a:t>
            </a:r>
            <a:endParaRPr lang="en-US" sz="1400" dirty="0"/>
          </a:p>
        </p:txBody>
      </p:sp>
      <p:pic>
        <p:nvPicPr>
          <p:cNvPr id="20" name="Image 0" descr="/Users/azatminyazov/Workspace/university java/2 work/docs/screenshots/gui_4_edi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968285"/>
            <a:ext cx="6217920" cy="41101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Подбор параметров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936 наборов на 30 лабиринтах; проверка — на 60 других до 30×30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583680" y="1645920"/>
            <a:ext cx="5029200" cy="2011680"/>
          </a:xfrm>
          <a:prstGeom prst="roundRect">
            <a:avLst>
              <a:gd name="adj" fmla="val 5455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Проверочные лабиринты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0" y="21945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A3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pPr indent="0" marL="0">
              <a:buNone/>
            </a:pPr>
            <a:r>
              <a:rPr lang="en-US" sz="4800" b="1" dirty="0">
                <a:solidFill>
                  <a:srgbClr val="6B6A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→ </a:t>
            </a:r>
            <a:pPr indent="0" marL="0">
              <a:buNone/>
            </a:pPr>
            <a:r>
              <a:rPr lang="en-US" sz="4800" b="1" dirty="0">
                <a:solidFill>
                  <a:srgbClr val="1D9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pPr indent="0" marL="0">
              <a:buNone/>
            </a:pPr>
            <a:r>
              <a:rPr lang="en-US" sz="2200" b="1" dirty="0">
                <a:solidFill>
                  <a:srgbClr val="6B6A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из 60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3108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мышь нашла путь: пробные значения → подобранные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393192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фактор — γ: при γ = 0.9 сыр за 70 шагов стоит для мыши 0.06 очка — меньше одного шага.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γ = 0.995 тот же сыр стоит около 70 очков, и его ценность доходит до старта.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α = 0.2, γ = 0.995, лимит 4000 шагов.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Архитектура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— контроллер — окно; модель и логика кнопок не зависят от JavaFX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9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maze.model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Maze, MazeGenerator — лабиринт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— среда, награды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QTable, Mouse — Q-learning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— попытки, автостоп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73736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920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85F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maze.controller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51460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TrainingController — кнопки, скорость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MazeEditor — редактор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SettingsForm, MazeForm — проверка ввода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73736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920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maze.view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51460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MazeApp — главное окно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MazeCanvas — рисование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ScoreChart — график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FormDialog — окна параметров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48056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Инкапсуляция: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стены и предметы меняются только методами Maze; Settings неизменяем и проверяет себя.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Наследование и полиморфизм: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MazeApp → Application, MazeCanvas → Pane; sealed-типы результатов, обобщённый FormDialog&lt;T&gt;.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UML-диаграммы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Шесть видов диаграмм, построены в PlantUML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74720" cy="2240280"/>
          </a:xfrm>
          <a:prstGeom prst="roundRect">
            <a:avLst>
              <a:gd name="adj" fmla="val 4898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pic>
        <p:nvPicPr>
          <p:cNvPr id="5" name="Image 0" descr="/Users/azatminyazov/Workspace/university java/2 work/docs/uml/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608" y="1755648"/>
            <a:ext cx="2650783" cy="1645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3456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Прецеденты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297680" y="1645920"/>
            <a:ext cx="3474720" cy="2240280"/>
          </a:xfrm>
          <a:prstGeom prst="roundRect">
            <a:avLst>
              <a:gd name="adj" fmla="val 4898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pic>
        <p:nvPicPr>
          <p:cNvPr id="8" name="Image 1" descr="/Users/azatminyazov/Workspace/university java/2 work/docs/uml/activity_attemp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7380" y="1755648"/>
            <a:ext cx="1075321" cy="1645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434840" y="3456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Деятельность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8046720" y="1645920"/>
            <a:ext cx="3474720" cy="2240280"/>
          </a:xfrm>
          <a:prstGeom prst="roundRect">
            <a:avLst>
              <a:gd name="adj" fmla="val 4898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pic>
        <p:nvPicPr>
          <p:cNvPr id="11" name="Image 2" descr="/Users/azatminyazov/Workspace/university java/2 work/docs/uml/class_mod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197" y="1755648"/>
            <a:ext cx="1471767" cy="1645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83880" y="3456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Классы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548640" y="4114800"/>
            <a:ext cx="3474720" cy="2240280"/>
          </a:xfrm>
          <a:prstGeom prst="roundRect">
            <a:avLst>
              <a:gd name="adj" fmla="val 4898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pic>
        <p:nvPicPr>
          <p:cNvPr id="14" name="Image 3" descr="/Users/azatminyazov/Workspace/university java/2 work/docs/uml/sequence_ste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9909" y="4224528"/>
            <a:ext cx="1972182" cy="16459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85800" y="592531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Взаимодействие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4297680" y="4114800"/>
            <a:ext cx="3474720" cy="2240280"/>
          </a:xfrm>
          <a:prstGeom prst="roundRect">
            <a:avLst>
              <a:gd name="adj" fmla="val 4898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pic>
        <p:nvPicPr>
          <p:cNvPr id="17" name="Image 4" descr="/Users/azatminyazov/Workspace/university java/2 work/docs/uml/state_train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8975" y="4224528"/>
            <a:ext cx="1372131" cy="16459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434840" y="592531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Состояния</a:t>
            </a:r>
            <a:endParaRPr lang="en-US" sz="1500" dirty="0"/>
          </a:p>
        </p:txBody>
      </p:sp>
      <p:sp>
        <p:nvSpPr>
          <p:cNvPr id="19" name="Shape 12"/>
          <p:cNvSpPr/>
          <p:nvPr/>
        </p:nvSpPr>
        <p:spPr>
          <a:xfrm>
            <a:off x="8046720" y="4114800"/>
            <a:ext cx="3474720" cy="2240280"/>
          </a:xfrm>
          <a:prstGeom prst="roundRect">
            <a:avLst>
              <a:gd name="adj" fmla="val 4898"/>
            </a:avLst>
          </a:prstGeom>
          <a:solidFill>
            <a:srgbClr val="F7F6F3"/>
          </a:solidFill>
          <a:ln w="12700">
            <a:solidFill>
              <a:srgbClr val="F7F6F3"/>
            </a:solidFill>
            <a:prstDash val="solid"/>
          </a:ln>
        </p:spPr>
      </p:sp>
      <p:pic>
        <p:nvPicPr>
          <p:cNvPr id="20" name="Image 5" descr="/Users/azatminyazov/Workspace/university java/2 work/docs/uml/compon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04635" y="4224528"/>
            <a:ext cx="1958890" cy="16459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183880" y="592531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Компоненты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Демонстрация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Первая попытка и после «Обучить 500»</a:t>
            </a:r>
            <a:endParaRPr lang="en-US" sz="1600" dirty="0"/>
          </a:p>
        </p:txBody>
      </p:sp>
      <p:pic>
        <p:nvPicPr>
          <p:cNvPr id="4" name="Image 0" descr="/Users/azatminyazov/Workspace/university java/2 work/docs/screenshots/gui_1b_first_attemp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5394960" cy="3566160"/>
          </a:xfrm>
          <a:prstGeom prst="rect">
            <a:avLst/>
          </a:prstGeom>
        </p:spPr>
      </p:pic>
      <p:pic>
        <p:nvPicPr>
          <p:cNvPr id="5" name="Image 1" descr="/Users/azatminyazov/Workspace/university java/2 work/docs/screenshots/gui_2_train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394960" cy="35661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6692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Мышь ничего не знает: бродит, бьётся о стены; за 59 шагов −231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6217920" y="56692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Выучила за 112 попыток: обходит ток, пьёт воду; график растёт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Защита от некорректного ввода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 не падает и объясняет ошибку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60350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Пусто, буквы, 1e3, NaN, Infinity, цифры других алфавитов, огромные числа, управляющие символы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Смысл: сыр — самая большая награда, ток не награда, α в (0; 1], воды и тока не больше свободных клеток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ошибки сразу, поля подсвечены, окно не закрывается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Редактор: границу не стереть, на старт и сыр ничего не положить, «сыр недостижим» — предупреждение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«Обучить 100 000» на 100×100 — доли секунды: окно не зависает</a:t>
            </a:r>
            <a:endParaRPr lang="en-US" sz="1600" dirty="0"/>
          </a:p>
        </p:txBody>
      </p:sp>
      <p:pic>
        <p:nvPicPr>
          <p:cNvPr id="5" name="Image 0" descr="/Users/azatminyazov/Workspace/university java/2 work/docs/screenshots/gui_5_settings_err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1453" y="1645920"/>
            <a:ext cx="3259414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2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Итоги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8640" cy="54864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190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7190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мышь без карты учится по наградам и знает сумму выигрыша за попытку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548640" cy="54864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8163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Лабиринт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816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любого размера до 100×100, случайная генерация и редактор схемы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8640" cy="54864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913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136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подобраны перебором: путь найден в 60 из 60 проверочных лабиринтов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548640" cy="54864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029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501091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ООП и UML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501091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— контроллер — окно; шесть видов UML-диаграмм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Мышь в лабиринте — обучение с подкреплением</dc:title>
  <dc:subject>PptxGenJS Presentation</dc:subject>
  <dc:creator>А. А. Минязов</dc:creator>
  <cp:lastModifiedBy>А. А. Минязов</cp:lastModifiedBy>
  <cp:revision>1</cp:revision>
  <dcterms:created xsi:type="dcterms:W3CDTF">2026-09-29T21:36:24Z</dcterms:created>
  <dcterms:modified xsi:type="dcterms:W3CDTF">2026-09-29T21:36:24Z</dcterms:modified>
</cp:coreProperties>
</file>